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Sorts Mill Goudy"/>
      <p:regular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jxPwSNQEeVQvsHHvVoDtUdXf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rtsMillGoudy-italic.fntdata"/><Relationship Id="rId25" Type="http://schemas.openxmlformats.org/officeDocument/2006/relationships/font" Target="fonts/SortsMillGoudy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a412da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a412da30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412da3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a412da30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a412da3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a412da30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a412da30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ba412da303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a412da30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a412da303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a412da30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ba412da303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a412da30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a412da303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a412da30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ba412da303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a412da30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ba412da303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ctrTitle"/>
          </p:nvPr>
        </p:nvSpPr>
        <p:spPr>
          <a:xfrm>
            <a:off x="966745" y="1205037"/>
            <a:ext cx="7744993" cy="2541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Sorts Mill Goud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966745" y="3949332"/>
            <a:ext cx="7744993" cy="2006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000" cap="none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831850" y="1883229"/>
            <a:ext cx="8214179" cy="33031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Sorts Mill Goud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831850" y="5295900"/>
            <a:ext cx="8214179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Sorts Mill Goudy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Sorts Mill Goudy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966745" y="2250798"/>
            <a:ext cx="4445899" cy="37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5597174" y="2250798"/>
            <a:ext cx="4445899" cy="3752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966745" y="960120"/>
            <a:ext cx="9196928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967153" y="2062842"/>
            <a:ext cx="4445899" cy="781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966745" y="2882837"/>
            <a:ext cx="4446642" cy="334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3" type="body"/>
          </p:nvPr>
        </p:nvSpPr>
        <p:spPr>
          <a:xfrm>
            <a:off x="5725280" y="2062842"/>
            <a:ext cx="4467794" cy="781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ts Mill Goudy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4" type="body"/>
          </p:nvPr>
        </p:nvSpPr>
        <p:spPr>
          <a:xfrm>
            <a:off x="5724868" y="2882837"/>
            <a:ext cx="4468541" cy="334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839788" y="1094014"/>
            <a:ext cx="3932237" cy="1436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5183188" y="1094014"/>
            <a:ext cx="6172200" cy="4767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800"/>
              <a:buChar char="∙"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orts Mill Goudy"/>
              <a:buNone/>
              <a:defRPr sz="2800"/>
            </a:lvl2pPr>
            <a:lvl3pPr indent="-457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600"/>
              <a:buChar char="∙"/>
              <a:defRPr sz="24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rts Mill Goudy"/>
              <a:buNone/>
              <a:defRPr sz="2000"/>
            </a:lvl4pPr>
            <a:lvl5pPr indent="-4191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000"/>
              <a:buChar char="∙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0"/>
          <p:cNvSpPr txBox="1"/>
          <p:nvPr>
            <p:ph idx="2" type="body"/>
          </p:nvPr>
        </p:nvSpPr>
        <p:spPr>
          <a:xfrm>
            <a:off x="839788" y="2618012"/>
            <a:ext cx="3932237" cy="32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ts Mill Goudy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9788" y="1065120"/>
            <a:ext cx="3932237" cy="14658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839788" y="2618014"/>
            <a:ext cx="3932237" cy="3250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ts Mill Goudy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1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75" name="Google Shape;75;p22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7" name="Google Shape;77;p22"/>
            <p:cNvSpPr/>
            <p:nvPr/>
          </p:nvSpPr>
          <p:spPr>
            <a:xfrm>
              <a:off x="9265700" y="7622"/>
              <a:ext cx="2372219" cy="237196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78" name="Google Shape;78;p22"/>
            <p:cNvSpPr/>
            <p:nvPr/>
          </p:nvSpPr>
          <p:spPr>
            <a:xfrm>
              <a:off x="10536649" y="1823190"/>
              <a:ext cx="1654608" cy="3209758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79" name="Google Shape;79;p22"/>
          <p:cNvSpPr txBox="1"/>
          <p:nvPr>
            <p:ph type="title"/>
          </p:nvPr>
        </p:nvSpPr>
        <p:spPr>
          <a:xfrm>
            <a:off x="2148186" y="959587"/>
            <a:ext cx="9076329" cy="1064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4861273" y="-464830"/>
            <a:ext cx="3650155" cy="9076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3"/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6" name="Google Shape;86;p23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9265700" y="7622"/>
              <a:ext cx="2372219" cy="237196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10536649" y="1823190"/>
              <a:ext cx="1654608" cy="3209758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90" name="Google Shape;90;p23"/>
          <p:cNvSpPr txBox="1"/>
          <p:nvPr>
            <p:ph type="title"/>
          </p:nvPr>
        </p:nvSpPr>
        <p:spPr>
          <a:xfrm rot="5400000">
            <a:off x="7587060" y="2410224"/>
            <a:ext cx="5310710" cy="222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 rot="5400000">
            <a:off x="2264988" y="-560535"/>
            <a:ext cx="5310710" cy="816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40005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40005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700"/>
              <a:buChar char="∙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2"/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7" name="Google Shape;7;p12"/>
            <p:cNvSpPr/>
            <p:nvPr/>
          </p:nvSpPr>
          <p:spPr>
            <a:xfrm>
              <a:off x="9326904" y="2026"/>
              <a:ext cx="2249810" cy="2294745"/>
            </a:xfrm>
            <a:custGeom>
              <a:rect b="b" l="l" r="r" t="t"/>
              <a:pathLst>
                <a:path extrusionOk="0" h="2294745" w="2249810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8" name="Google Shape;8;p12"/>
            <p:cNvSpPr/>
            <p:nvPr/>
          </p:nvSpPr>
          <p:spPr>
            <a:xfrm>
              <a:off x="10597154" y="1907348"/>
              <a:ext cx="1594846" cy="3044131"/>
            </a:xfrm>
            <a:custGeom>
              <a:rect b="b" l="l" r="r" t="t"/>
              <a:pathLst>
                <a:path extrusionOk="0" h="3044131" w="1594846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rgbClr val="BFAFAA">
                <a:alpha val="1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9" name="Google Shape;9;p12"/>
            <p:cNvSpPr/>
            <p:nvPr/>
          </p:nvSpPr>
          <p:spPr>
            <a:xfrm>
              <a:off x="9265700" y="7622"/>
              <a:ext cx="2372219" cy="2371961"/>
            </a:xfrm>
            <a:custGeom>
              <a:rect b="b" l="l" r="r" t="t"/>
              <a:pathLst>
                <a:path extrusionOk="0" h="4282434" w="4282900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0" name="Google Shape;10;p12"/>
            <p:cNvSpPr/>
            <p:nvPr/>
          </p:nvSpPr>
          <p:spPr>
            <a:xfrm>
              <a:off x="10536649" y="1823190"/>
              <a:ext cx="1654608" cy="3209758"/>
            </a:xfrm>
            <a:custGeom>
              <a:rect b="b" l="l" r="r" t="t"/>
              <a:pathLst>
                <a:path extrusionOk="0" h="5795027" w="2987296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cap="rnd" cmpd="sng" w="25400">
              <a:solidFill>
                <a:srgbClr val="BFAFAA">
                  <a:alpha val="64705"/>
                </a:srgbClr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1" name="Google Shape;11;p12"/>
          <p:cNvSpPr txBox="1"/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orts Mill Goudy"/>
              <a:buNone/>
              <a:defRPr b="0" i="0" sz="4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rts Mill Goudy"/>
              <a:buChar char="∙"/>
              <a:defRPr b="0" i="0" sz="2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rts Mill Goudy"/>
              <a:buNone/>
              <a:defRPr b="0" i="0" sz="18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rts Mill Goudy"/>
              <a:buChar char="∙"/>
              <a:defRPr b="0" i="0" sz="1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ts Mill Goudy"/>
              <a:buNone/>
              <a:defRPr b="0" i="0" sz="1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Sorts Mill Goudy"/>
              <a:buChar char="∙"/>
              <a:defRPr b="0" i="0" sz="1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0" type="dt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1" type="ftr"/>
          </p:nvPr>
        </p:nvSpPr>
        <p:spPr>
          <a:xfrm>
            <a:off x="966745" y="501128"/>
            <a:ext cx="33113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00" name="Google Shape;100;p1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1109594" y="812056"/>
            <a:ext cx="3876811" cy="5127565"/>
          </a:xfrm>
          <a:custGeom>
            <a:rect b="b" l="l" r="r" t="t"/>
            <a:pathLst>
              <a:path extrusionOk="0" h="5127565" w="3876811">
                <a:moveTo>
                  <a:pt x="1941583" y="0"/>
                </a:moveTo>
                <a:lnTo>
                  <a:pt x="2111641" y="149098"/>
                </a:lnTo>
                <a:cubicBezTo>
                  <a:pt x="2533316" y="474958"/>
                  <a:pt x="3008486" y="564716"/>
                  <a:pt x="3370494" y="774450"/>
                </a:cubicBezTo>
                <a:cubicBezTo>
                  <a:pt x="3718589" y="1017851"/>
                  <a:pt x="3876811" y="1296993"/>
                  <a:pt x="3876811" y="1854685"/>
                </a:cubicBezTo>
                <a:cubicBezTo>
                  <a:pt x="3876811" y="2072195"/>
                  <a:pt x="3876810" y="2289706"/>
                  <a:pt x="3876810" y="2507216"/>
                </a:cubicBezTo>
                <a:lnTo>
                  <a:pt x="3872563" y="5127565"/>
                </a:lnTo>
                <a:lnTo>
                  <a:pt x="4248" y="5127565"/>
                </a:lnTo>
                <a:lnTo>
                  <a:pt x="0" y="2507216"/>
                </a:lnTo>
                <a:cubicBezTo>
                  <a:pt x="0" y="2289706"/>
                  <a:pt x="1" y="2072195"/>
                  <a:pt x="1" y="1854685"/>
                </a:cubicBezTo>
                <a:cubicBezTo>
                  <a:pt x="1" y="1296993"/>
                  <a:pt x="158225" y="1017851"/>
                  <a:pt x="506320" y="774450"/>
                </a:cubicBezTo>
                <a:cubicBezTo>
                  <a:pt x="868329" y="564716"/>
                  <a:pt x="1343500" y="474958"/>
                  <a:pt x="1765173" y="149098"/>
                </a:cubicBezTo>
                <a:close/>
              </a:path>
            </a:pathLst>
          </a:custGeom>
          <a:solidFill>
            <a:srgbClr val="000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02" name="Google Shape;102;p1"/>
          <p:cNvSpPr txBox="1"/>
          <p:nvPr>
            <p:ph type="ctrTitle"/>
          </p:nvPr>
        </p:nvSpPr>
        <p:spPr>
          <a:xfrm>
            <a:off x="1473389" y="671064"/>
            <a:ext cx="31491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rts Mill Goudy"/>
              <a:buNone/>
            </a:pPr>
            <a:r>
              <a:rPr lang="ru-RU" sz="4000">
                <a:solidFill>
                  <a:srgbClr val="FFFFFF"/>
                </a:solidFill>
              </a:rPr>
              <a:t>Maturitní </a:t>
            </a:r>
            <a:r>
              <a:rPr lang="ru-RU" sz="4000">
                <a:solidFill>
                  <a:srgbClr val="FFFFFF"/>
                </a:solidFill>
              </a:rPr>
              <a:t>práce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1109600" y="3144025"/>
            <a:ext cx="38775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75"/>
              <a:buNone/>
            </a:pPr>
            <a:r>
              <a:rPr lang="ru-RU" sz="2450">
                <a:solidFill>
                  <a:srgbClr val="FFFFFF"/>
                </a:solidFill>
              </a:rPr>
              <a:t>SPRÁVCE NEURONOVÝCH SÍTÍ</a:t>
            </a:r>
            <a:endParaRPr sz="245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75"/>
              <a:buNone/>
            </a:pPr>
            <a:br>
              <a:rPr lang="ru-RU" sz="2450"/>
            </a:br>
            <a:endParaRPr sz="245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75"/>
              <a:buNone/>
            </a:pPr>
            <a:r>
              <a:t/>
            </a:r>
            <a:endParaRPr sz="2450">
              <a:solidFill>
                <a:srgbClr val="FFFFFF"/>
              </a:solidFill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109219" y="4040601"/>
            <a:ext cx="38775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orts Mill Goudy"/>
              <a:buNone/>
            </a:pPr>
            <a:r>
              <a:rPr b="0" i="0" lang="ru-RU" sz="2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IVAŠČENKO MICHAJLO</a:t>
            </a:r>
            <a:endParaRPr b="0" i="0" sz="24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orts Mill Goudy"/>
              <a:buNone/>
            </a:pPr>
            <a:r>
              <a:rPr b="0" i="0" lang="ru-RU" sz="2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4ITC</a:t>
            </a:r>
            <a:endParaRPr sz="2400"/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75"/>
              <a:buFont typeface="Sorts Mill Goudy"/>
              <a:buNone/>
            </a:pPr>
            <a:br>
              <a:rPr b="0" i="0" lang="ru-RU" sz="2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</a:br>
            <a:endParaRPr b="0" i="0" sz="2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75"/>
              <a:buFont typeface="Sorts Mill Goudy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088364" y="5073713"/>
            <a:ext cx="38775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orts Mill Goudy"/>
              <a:buNone/>
            </a:pPr>
            <a:r>
              <a:rPr lang="ru-RU" sz="2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VEDOUCÍ PRÁCI</a:t>
            </a:r>
            <a:endParaRPr sz="24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Sorts Mill Goudy"/>
              <a:buNone/>
            </a:pPr>
            <a:r>
              <a:rPr lang="ru-RU" sz="2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PETR HABERZETTL</a:t>
            </a:r>
            <a:endParaRPr sz="24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75"/>
              <a:buFont typeface="Sorts Mill Goudy"/>
              <a:buNone/>
            </a:pPr>
            <a:br>
              <a:rPr b="0" i="0" lang="ru-RU" sz="2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</a:br>
            <a:endParaRPr b="0" i="0" sz="2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75"/>
              <a:buFont typeface="Sorts Mill Goudy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11" name="Google Shape;111;p5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3" name="Google Shape;113;p5"/>
          <p:cNvSpPr txBox="1"/>
          <p:nvPr>
            <p:ph type="ctrTitle"/>
          </p:nvPr>
        </p:nvSpPr>
        <p:spPr>
          <a:xfrm>
            <a:off x="2101755" y="1976"/>
            <a:ext cx="7983941" cy="7733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280425" y="3433402"/>
            <a:ext cx="11992270" cy="29135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Vytvořit vizuální rozhraní nad PyTorch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Skládání neuronových sítí z bloků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Trénování modelů přímo ve webovém editoru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Vytváření a zpracování datasetů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Vizualizace průběhu učení pomocí přehledných grafů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74295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2098083" y="595051"/>
            <a:ext cx="7983941" cy="7733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HLAVNÍ CÍLE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21" name="Google Shape;121;p2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23" name="Google Shape;123;p2"/>
          <p:cNvSpPr txBox="1"/>
          <p:nvPr>
            <p:ph type="ctrTitle"/>
          </p:nvPr>
        </p:nvSpPr>
        <p:spPr>
          <a:xfrm>
            <a:off x="2101755" y="1976"/>
            <a:ext cx="7983941" cy="7733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INSPIRACE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2097580" y="269198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Google Colab</a:t>
            </a:r>
            <a:endParaRPr/>
          </a:p>
        </p:txBody>
      </p:sp>
      <p:pic>
        <p:nvPicPr>
          <p:cNvPr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 id="125" name="Google Shape;125;p2"/>
          <p:cNvPicPr preferRelativeResize="0"/>
          <p:nvPr/>
        </p:nvPicPr>
        <p:blipFill rotWithShape="1">
          <a:blip r:embed="rId4">
            <a:alphaModFix/>
          </a:blip>
          <a:srcRect b="-239" l="0" r="28250" t="93"/>
          <a:stretch/>
        </p:blipFill>
        <p:spPr>
          <a:xfrm>
            <a:off x="5041725" y="1546058"/>
            <a:ext cx="7150274" cy="522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197798" y="1386101"/>
            <a:ext cx="4570599" cy="5126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Cloudové prostředí pro psaní a spouštění Python kódu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Není potřeba nic instalovat lokálně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Vhodné pro experimenty a výuku ML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3683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32" name="Google Shape;132;p3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34" name="Google Shape;134;p3"/>
          <p:cNvSpPr txBox="1"/>
          <p:nvPr>
            <p:ph type="ctrTitle"/>
          </p:nvPr>
        </p:nvSpPr>
        <p:spPr>
          <a:xfrm>
            <a:off x="2101755" y="-499065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INSPIRACE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2108018" y="9174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Kaggle</a:t>
            </a:r>
            <a:endParaRPr/>
          </a:p>
        </p:txBody>
      </p:sp>
      <p:pic>
        <p:nvPicPr>
          <p:cNvPr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2955" y="1625840"/>
            <a:ext cx="6790282" cy="4900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197798" y="1386101"/>
            <a:ext cx="4570599" cy="5126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Platforma pro datové sady a ML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Možnost trénovat modely přímo v online notebookech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Velká komunita a hotové řešení pro inspiraci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43" name="Google Shape;143;p4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45" name="Google Shape;145;p4"/>
          <p:cNvSpPr txBox="1"/>
          <p:nvPr>
            <p:ph type="ctrTitle"/>
          </p:nvPr>
        </p:nvSpPr>
        <p:spPr>
          <a:xfrm>
            <a:off x="2101755" y="-499065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INSPIRACE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2108018" y="9174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Hugging Face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97798" y="2790751"/>
            <a:ext cx="11992270" cy="442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Platforma zaměřená na vývoj a sdílení AI modelů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Velké množství předtrénovaných modelů (NLP, vision, audio)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Knihovny pro snadnou práci s moderními modely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Možnost stahovat, testovat a jemně dolaďovat modely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Podpora práce s datasety a jejich verzování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Silná komunita a otevřený přístup (open-source)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53" name="Google Shape;153;p6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55" name="Google Shape;155;p6"/>
          <p:cNvSpPr txBox="1"/>
          <p:nvPr>
            <p:ph type="ctrTitle"/>
          </p:nvPr>
        </p:nvSpPr>
        <p:spPr>
          <a:xfrm>
            <a:off x="2101755" y="1976"/>
            <a:ext cx="7983941" cy="7733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02973" y="2338608"/>
            <a:ext cx="74724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Přihlášení pomocí uživatelského účtu</a:t>
            </a:r>
            <a:endParaRPr b="0" i="0" sz="32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Oddělení projektů jednotlivých uživatelů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Bezpečné ukládání dat a modelů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Uživatelská logika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Изображение выглядит как текст, снимок экрана, Шрифт, число&#10;&#10;Содержимое, созданное искусственным интеллектом, может быть неверным.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3630" y="1711042"/>
            <a:ext cx="3027124" cy="500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a412da303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64" name="Google Shape;164;g3ba412da303_0_0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ba412da303_0_0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66" name="Google Shape;166;g3ba412da303_0_0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167" name="Google Shape;167;g3ba412da303_0_0"/>
          <p:cNvSpPr txBox="1"/>
          <p:nvPr/>
        </p:nvSpPr>
        <p:spPr>
          <a:xfrm>
            <a:off x="25" y="1749603"/>
            <a:ext cx="7472400" cy="23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Nahrání vlastních datasetů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Předzpracování dat před trénováním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68" name="Google Shape;168;g3ba412da303_0_0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Práce s datasety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169" name="Google Shape;169;g3ba412da30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348" y="1828398"/>
            <a:ext cx="4002104" cy="46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a412da303_0_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75" name="Google Shape;175;g3ba412da303_0_14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ba412da303_0_14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7" name="Google Shape;177;g3ba412da303_0_14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178" name="Google Shape;178;g3ba412da303_0_14"/>
          <p:cNvSpPr txBox="1"/>
          <p:nvPr/>
        </p:nvSpPr>
        <p:spPr>
          <a:xfrm>
            <a:off x="237600" y="1668600"/>
            <a:ext cx="5097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Nastavení architektury neuronové sítě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Volba optimalizátoru a parametrů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Přizpůsobení trénování konkrétní úloze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9" name="Google Shape;179;g3ba412da303_0_14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Návrh a konfigurace modelu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180" name="Google Shape;180;g3ba412da303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800" y="1903150"/>
            <a:ext cx="6944400" cy="39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a412da303_0_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86" name="Google Shape;186;g3ba412da303_0_29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ba412da303_0_29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8" name="Google Shape;188;g3ba412da303_0_29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189" name="Google Shape;189;g3ba412da303_0_29"/>
          <p:cNvSpPr txBox="1"/>
          <p:nvPr/>
        </p:nvSpPr>
        <p:spPr>
          <a:xfrm>
            <a:off x="237600" y="1668600"/>
            <a:ext cx="5097600" cy="3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Spuštění trénování přes webové rozhraní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Využití PyTorch na backendu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Řízení procesu pomocí API</a:t>
            </a:r>
            <a:endParaRPr sz="32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0" name="Google Shape;190;g3ba412da303_0_29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Trénování modelu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191" name="Google Shape;191;g3ba412da303_0_29"/>
          <p:cNvPicPr preferRelativeResize="0"/>
          <p:nvPr/>
        </p:nvPicPr>
        <p:blipFill rotWithShape="1">
          <a:blip r:embed="rId4">
            <a:alphaModFix/>
          </a:blip>
          <a:srcRect b="0" l="0" r="59318" t="0"/>
          <a:stretch/>
        </p:blipFill>
        <p:spPr>
          <a:xfrm>
            <a:off x="6847200" y="1668600"/>
            <a:ext cx="4619025" cy="478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412da303_0_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197" name="Google Shape;197;g3ba412da303_0_56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ba412da303_0_56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9" name="Google Shape;199;g3ba412da303_0_56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200" name="Google Shape;200;g3ba412da303_0_56"/>
          <p:cNvSpPr txBox="1"/>
          <p:nvPr/>
        </p:nvSpPr>
        <p:spPr>
          <a:xfrm>
            <a:off x="237600" y="1668600"/>
            <a:ext cx="11954400" cy="518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Model založený na architektuře DETR (Detection Transformer)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Využití transformeru pro predikci objektů v obraze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Zpracování obrazu přímo z webové kamery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Detekce obličejů v reálném čase pomocí ohraničujících rámců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Model byl trénován od začátku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orts Mill Goudy"/>
              <a:buChar char="●"/>
            </a:pPr>
            <a:r>
              <a:rPr lang="ru-RU" sz="32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Slouží jako demonstrace použití moderních transformerových modelů</a:t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1" name="Google Shape;201;g3ba412da303_0_56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Detekce obličejů v reálném čase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a412da303_0_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07" name="Google Shape;207;g3ba412da303_0_69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ba412da303_0_69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9" name="Google Shape;209;g3ba412da303_0_69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210" name="Google Shape;210;g3ba412da303_0_69"/>
          <p:cNvSpPr txBox="1"/>
          <p:nvPr/>
        </p:nvSpPr>
        <p:spPr>
          <a:xfrm>
            <a:off x="112825" y="1458000"/>
            <a:ext cx="11954400" cy="42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Generativní model založený na difuzním přístupu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Trénování na datasetu přibližně 15 000 obrázků koček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Generování obrázků kočičích obličejů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Vizualizace procesu generování postupným odstraňováním šumu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Výstupem je GIF animace, která ukazuje celý průběh generace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Slouží jako demonstrace principu difuzních generativních modelů</a:t>
            </a:r>
            <a:endParaRPr sz="29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11" name="Google Shape;211;g3ba412da303_0_69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Generátor koček (difuzní model)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a412da303_0_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17" name="Google Shape;217;g3ba412da303_0_43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ba412da303_0_43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19" name="Google Shape;219;g3ba412da303_0_43"/>
          <p:cNvSpPr txBox="1"/>
          <p:nvPr>
            <p:ph type="ctrTitle"/>
          </p:nvPr>
        </p:nvSpPr>
        <p:spPr>
          <a:xfrm>
            <a:off x="2101755" y="1976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PROJEKT</a:t>
            </a:r>
            <a:endParaRPr/>
          </a:p>
        </p:txBody>
      </p:sp>
      <p:sp>
        <p:nvSpPr>
          <p:cNvPr id="220" name="Google Shape;220;g3ba412da303_0_43"/>
          <p:cNvSpPr txBox="1"/>
          <p:nvPr/>
        </p:nvSpPr>
        <p:spPr>
          <a:xfrm>
            <a:off x="259200" y="1576800"/>
            <a:ext cx="11932800" cy="47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 je použit pro kontejnerizaci celé aplikace a oddělení jednotlivých služeb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Frontend běží v samostatném Docker kontejneru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Backend je realizován v Pythonu pomocí FastAPI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PyTorch slouží pro trénování a správu neuronových sítí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Redis je využit pro ukládání autentizačních tokenů uživatelů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Tokeny umožňují opakované přihlášení bez nutnosti zadávat heslo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orts Mill Goudy"/>
              <a:buChar char="●"/>
            </a:pPr>
            <a:r>
              <a:rPr lang="ru-RU" sz="29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PostgreSQL databáze uchovává data o uživatelích, projektech a datasetech</a:t>
            </a:r>
            <a:endParaRPr sz="2900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1" name="Google Shape;221;g3ba412da303_0_43"/>
          <p:cNvSpPr txBox="1"/>
          <p:nvPr/>
        </p:nvSpPr>
        <p:spPr>
          <a:xfrm>
            <a:off x="2098083" y="595051"/>
            <a:ext cx="79839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 sz="4400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Technické řešení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27" name="Google Shape;227;p7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9" name="Google Shape;229;p7"/>
          <p:cNvSpPr txBox="1"/>
          <p:nvPr>
            <p:ph type="ctrTitle"/>
          </p:nvPr>
        </p:nvSpPr>
        <p:spPr>
          <a:xfrm>
            <a:off x="2101755" y="-330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TECHNOLOGIE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197798" y="642462"/>
            <a:ext cx="11992270" cy="55851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Framework pro tvorbu a trénování neuronových sítí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Dynamické výpočetní grafy – snadné ladění modelů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Široce používaný ve výzkumu i praxi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Podpora GPU a distribuovaného trénování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Dobrá integrace s Python ekosystémem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Aktivní komunita a časté aktualizace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7429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2107263" y="617311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Py Torch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37" name="Google Shape;237;p8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9" name="Google Shape;239;p8"/>
          <p:cNvSpPr txBox="1"/>
          <p:nvPr>
            <p:ph type="ctrTitle"/>
          </p:nvPr>
        </p:nvSpPr>
        <p:spPr>
          <a:xfrm>
            <a:off x="2101755" y="-330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TECHNOLOGIE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197798" y="642462"/>
            <a:ext cx="11992270" cy="55851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Nástroj pro verzování databázových schémat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Řízení migrací v projektech s PostgreSQL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Automatické generování změn databáze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Snadná spolupráce v týmu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Minimalizace chyb při úpravách DB struktury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Úzká integrace se SQLAlchemy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7429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2107263" y="617311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Alembic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47" name="Google Shape;247;p9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9" name="Google Shape;249;p9"/>
          <p:cNvSpPr txBox="1"/>
          <p:nvPr>
            <p:ph type="ctrTitle"/>
          </p:nvPr>
        </p:nvSpPr>
        <p:spPr>
          <a:xfrm>
            <a:off x="2101755" y="-330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TECHNOLOGIE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197798" y="642462"/>
            <a:ext cx="11992270" cy="55851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Databáze s velmi rychlou odezvou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Používá se jako cache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Vhodný pro práci s relacemi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Podpora různých datových struktur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Zvyšuje výkon a škálovatelnost aplikace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Často využíván v backendových systémech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7429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2107263" y="617311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Redis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57" name="Google Shape;257;p10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59" name="Google Shape;259;p10"/>
          <p:cNvSpPr txBox="1"/>
          <p:nvPr>
            <p:ph type="ctrTitle"/>
          </p:nvPr>
        </p:nvSpPr>
        <p:spPr>
          <a:xfrm>
            <a:off x="2101755" y="-330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TECHNOLOGIE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197798" y="642462"/>
            <a:ext cx="11992270" cy="55851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JavaScriptová knihovna pro tvorbu užívatelského rozhrání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Komponentový přístup k vývoji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Efektivní aktualizace rozhraní pomocí Virtual DOM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Široké využití ve webových aplikacích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Dobrá kombinace s REST API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Silná komunita a ekosystém knihoven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2107263" y="617311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React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67" name="Google Shape;267;p11"/>
          <p:cNvPicPr preferRelativeResize="0"/>
          <p:nvPr/>
        </p:nvPicPr>
        <p:blipFill rotWithShape="1">
          <a:blip r:embed="rId3">
            <a:alphaModFix/>
          </a:blip>
          <a:srcRect b="3434" l="0" r="0" t="0"/>
          <a:stretch/>
        </p:blipFill>
        <p:spPr>
          <a:xfrm>
            <a:off x="20" y="1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 rot="10800000">
            <a:off x="0" y="0"/>
            <a:ext cx="12192000" cy="460451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69" name="Google Shape;269;p11"/>
          <p:cNvSpPr txBox="1"/>
          <p:nvPr>
            <p:ph type="ctrTitle"/>
          </p:nvPr>
        </p:nvSpPr>
        <p:spPr>
          <a:xfrm>
            <a:off x="2101755" y="-3306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TECHNOLOGIE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197798" y="621586"/>
            <a:ext cx="5405667" cy="5606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Kontejnerizace aplikací pro jednotné prostředí</a:t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Snadné nasazení a přenositelnost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ru-RU" sz="32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Oddělení aplikace od systému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indent="-254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2107263" y="617311"/>
            <a:ext cx="7983941" cy="1190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b="0" i="0" lang="ru-RU" sz="4400" u="none" cap="none" strike="noStrike">
                <a:solidFill>
                  <a:srgbClr val="FFFFFF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Docker</a:t>
            </a:r>
            <a:endParaRPr b="0" i="0" sz="4400" u="none" cap="none" strike="noStrike">
              <a:solidFill>
                <a:schemeClr val="dk2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 id="272" name="Google Shape;2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2658" y="1910219"/>
            <a:ext cx="6070166" cy="459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412da303_0_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78" name="Google Shape;278;g3ba412da303_0_80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ba412da303_0_80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80" name="Google Shape;280;g3ba412da303_0_80"/>
          <p:cNvSpPr txBox="1"/>
          <p:nvPr>
            <p:ph type="ctrTitle"/>
          </p:nvPr>
        </p:nvSpPr>
        <p:spPr>
          <a:xfrm>
            <a:off x="2101755" y="-3306"/>
            <a:ext cx="79839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PRAKTICKÁ UKÁZKA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a412da303_0_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86" name="Google Shape;286;g3ba412da303_0_90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ba412da303_0_90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88" name="Google Shape;288;g3ba412da303_0_90"/>
          <p:cNvSpPr txBox="1"/>
          <p:nvPr>
            <p:ph type="ctrTitle"/>
          </p:nvPr>
        </p:nvSpPr>
        <p:spPr>
          <a:xfrm>
            <a:off x="2101755" y="-3306"/>
            <a:ext cx="79839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PROSTOR PRO OTÁZKY</a:t>
            </a:r>
            <a:endParaRPr/>
          </a:p>
        </p:txBody>
      </p:sp>
      <p:pic>
        <p:nvPicPr>
          <p:cNvPr descr="Časté otázky - PROSTOR PRO, o.p.s." id="289" name="Google Shape;289;g3ba412da303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171" y="1618068"/>
            <a:ext cx="3318790" cy="414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a412da303_0_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descr="Фон с сетевыми технологиями" id="295" name="Google Shape;295;g3ba412da303_0_98"/>
          <p:cNvPicPr preferRelativeResize="0"/>
          <p:nvPr/>
        </p:nvPicPr>
        <p:blipFill rotWithShape="1">
          <a:blip r:embed="rId3">
            <a:alphaModFix/>
          </a:blip>
          <a:srcRect b="3437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ba412da303_0_98"/>
          <p:cNvSpPr/>
          <p:nvPr/>
        </p:nvSpPr>
        <p:spPr>
          <a:xfrm rot="10800000">
            <a:off x="0" y="116"/>
            <a:ext cx="12192000" cy="460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7000">
                <a:srgbClr val="000000">
                  <a:alpha val="0"/>
                </a:srgbClr>
              </a:gs>
              <a:gs pos="56000">
                <a:srgbClr val="000000">
                  <a:alpha val="55686"/>
                </a:srgbClr>
              </a:gs>
              <a:gs pos="100000">
                <a:srgbClr val="000000">
                  <a:alpha val="6274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97" name="Google Shape;297;g3ba412da303_0_98"/>
          <p:cNvSpPr txBox="1"/>
          <p:nvPr>
            <p:ph type="ctrTitle"/>
          </p:nvPr>
        </p:nvSpPr>
        <p:spPr>
          <a:xfrm>
            <a:off x="2101755" y="-3306"/>
            <a:ext cx="79839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Sorts Mill Goudy"/>
              <a:buNone/>
            </a:pPr>
            <a:r>
              <a:rPr lang="ru-RU">
                <a:solidFill>
                  <a:srgbClr val="FFFFFF"/>
                </a:solidFill>
              </a:rPr>
              <a:t>DĚKUJI ZA POZORNOST!</a:t>
            </a:r>
            <a:endParaRPr/>
          </a:p>
        </p:txBody>
      </p:sp>
      <p:pic>
        <p:nvPicPr>
          <p:cNvPr descr="pls jedničku - Cute Cat Standing Meme Generator" id="298" name="Google Shape;298;g3ba412da303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962" y="1821421"/>
            <a:ext cx="3641408" cy="392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2012-07-30T23:42:41Z</dcterms:created>
</cp:coreProperties>
</file>